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9"/>
    <p:restoredTop sz="93260"/>
  </p:normalViewPr>
  <p:slideViewPr>
    <p:cSldViewPr snapToGrid="0" snapToObjects="1">
      <p:cViewPr varScale="1">
        <p:scale>
          <a:sx n="102" d="100"/>
          <a:sy n="102" d="100"/>
        </p:scale>
        <p:origin x="6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>
                <a:solidFill>
                  <a:srgbClr val="1A1A2E"/>
                </a:solidFill>
                <a:latin typeface="Georgia"/>
              </a:defRPr>
            </a:pPr>
            <a:r>
              <a:rPr lang="en-IN"/>
              <a:t>LLM Market Size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LLM Market ($B)</c:v>
                </c:pt>
              </c:strCache>
            </c:strRef>
          </c:tx>
          <c:spPr>
            <a:solidFill>
              <a:srgbClr val="0D7C6E"/>
            </a:solidFill>
          </c:spPr>
          <c:invertIfNegative val="1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5.6</c:v>
                </c:pt>
                <c:pt idx="1">
                  <c:v>7.4</c:v>
                </c:pt>
                <c:pt idx="2">
                  <c:v>10</c:v>
                </c:pt>
                <c:pt idx="3">
                  <c:v>13.5</c:v>
                </c:pt>
                <c:pt idx="4">
                  <c:v>18.3</c:v>
                </c:pt>
                <c:pt idx="5">
                  <c:v>24.8</c:v>
                </c:pt>
                <c:pt idx="6">
                  <c:v>35.4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665-9C47-8524-0510032E67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>
                <a:solidFill>
                  <a:srgbClr val="1A1A2E"/>
                </a:solidFill>
                <a:latin typeface="Georgia"/>
              </a:defRPr>
            </a:pPr>
            <a:r>
              <a:rPr lang="en-IN"/>
              <a:t>SLM &amp; Conversational AI Growth ($B)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SLM Market ($B)</c:v>
                </c:pt>
              </c:strCache>
            </c:strRef>
          </c:tx>
          <c:spPr>
            <a:ln w="38100">
              <a:solidFill>
                <a:srgbClr val="E89C1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2028</c:v>
                </c:pt>
                <c:pt idx="4">
                  <c:v>2030</c:v>
                </c:pt>
                <c:pt idx="5">
                  <c:v>2032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5.3</c:v>
                </c:pt>
                <c:pt idx="1">
                  <c:v>7.9</c:v>
                </c:pt>
                <c:pt idx="2">
                  <c:v>10.6</c:v>
                </c:pt>
                <c:pt idx="3">
                  <c:v>17.8</c:v>
                </c:pt>
                <c:pt idx="4">
                  <c:v>26.7</c:v>
                </c:pt>
                <c:pt idx="5">
                  <c:v>37.799999999999997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51-3B47-8731-013283512A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Conv. AI ($B)</c:v>
                </c:pt>
              </c:strCache>
            </c:strRef>
          </c:tx>
          <c:spPr>
            <a:ln w="38100">
              <a:solidFill>
                <a:srgbClr val="E06C5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2028</c:v>
                </c:pt>
                <c:pt idx="4">
                  <c:v>2030</c:v>
                </c:pt>
                <c:pt idx="5">
                  <c:v>2032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11.6</c:v>
                </c:pt>
                <c:pt idx="1">
                  <c:v>14.4</c:v>
                </c:pt>
                <c:pt idx="2">
                  <c:v>17.8</c:v>
                </c:pt>
                <c:pt idx="3">
                  <c:v>27.2</c:v>
                </c:pt>
                <c:pt idx="4">
                  <c:v>41.4</c:v>
                </c:pt>
                <c:pt idx="5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51-3B47-8731-013283512A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bubble3D val="0"/>
            <c:spPr>
              <a:solidFill>
                <a:srgbClr val="0D7C6E"/>
              </a:solidFill>
            </c:spPr>
            <c:extLst>
              <c:ext xmlns:c16="http://schemas.microsoft.com/office/drawing/2014/chart" uri="{C3380CC4-5D6E-409C-BE32-E72D297353CC}">
                <c16:uniqueId val="{00000001-2C38-5745-BC89-B6858A1DBB1C}"/>
              </c:ext>
            </c:extLst>
          </c:dPt>
          <c:dPt>
            <c:idx val="1"/>
            <c:bubble3D val="0"/>
            <c:spPr>
              <a:solidFill>
                <a:srgbClr val="E89C12"/>
              </a:solidFill>
            </c:spPr>
            <c:extLst>
              <c:ext xmlns:c16="http://schemas.microsoft.com/office/drawing/2014/chart" uri="{C3380CC4-5D6E-409C-BE32-E72D297353CC}">
                <c16:uniqueId val="{00000003-2C38-5745-BC89-B6858A1DBB1C}"/>
              </c:ext>
            </c:extLst>
          </c:dPt>
          <c:dPt>
            <c:idx val="2"/>
            <c:bubble3D val="0"/>
            <c:spPr>
              <a:solidFill>
                <a:srgbClr val="E06C55"/>
              </a:solidFill>
            </c:spPr>
            <c:extLst>
              <c:ext xmlns:c16="http://schemas.microsoft.com/office/drawing/2014/chart" uri="{C3380CC4-5D6E-409C-BE32-E72D297353CC}">
                <c16:uniqueId val="{00000005-2C38-5745-BC89-B6858A1DBB1C}"/>
              </c:ext>
            </c:extLst>
          </c:dPt>
          <c:dPt>
            <c:idx val="3"/>
            <c:bubble3D val="0"/>
            <c:spPr>
              <a:solidFill>
                <a:srgbClr val="7C6DB0"/>
              </a:solidFill>
            </c:spPr>
            <c:extLst>
              <c:ext xmlns:c16="http://schemas.microsoft.com/office/drawing/2014/chart" uri="{C3380CC4-5D6E-409C-BE32-E72D297353CC}">
                <c16:uniqueId val="{00000007-2C38-5745-BC89-B6858A1DBB1C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1A2E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GPU Infrastructure
&amp; Compute</c:v>
                </c:pt>
                <c:pt idx="1">
                  <c:v>Team Expansion
&amp; Talent</c:v>
                </c:pt>
                <c:pt idx="2">
                  <c:v>R&amp;D
&amp; Products</c:v>
                </c:pt>
                <c:pt idx="3">
                  <c:v>Sales &amp; GTM
Expansion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0.3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C38-5745-BC89-B6858A1DBB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4114800"/>
            <a:ext cx="4114800" cy="4114800"/>
          </a:xfrm>
          <a:prstGeom prst="ellipse">
            <a:avLst/>
          </a:prstGeom>
          <a:solidFill>
            <a:srgbClr val="FDF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7C6E"/>
                </a:solidFill>
                <a:latin typeface="Calibri"/>
              </a:defRPr>
            </a:pPr>
            <a:r>
              <a:rPr dirty="0"/>
              <a:t>LIBERIN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80467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000" b="1">
                <a:solidFill>
                  <a:srgbClr val="1A1A2E"/>
                </a:solidFill>
                <a:latin typeface="Georgia"/>
              </a:defRPr>
            </a:pPr>
            <a:r>
              <a:rPr dirty="0"/>
              <a:t>Powering the Future of</a:t>
            </a:r>
            <a:br>
              <a:rPr dirty="0"/>
            </a:br>
            <a:r>
              <a:rPr dirty="0"/>
              <a:t>AI &amp;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13248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B6B85"/>
                </a:solidFill>
                <a:latin typeface="Calibri"/>
              </a:defRPr>
            </a:pPr>
            <a:r>
              <a:rPr dirty="0"/>
              <a:t>Investor Presentation  | 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6144768"/>
            <a:ext cx="182880" cy="18288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6126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D3D5C"/>
                </a:solidFill>
                <a:latin typeface="Calibri"/>
              </a:defRPr>
            </a:pPr>
            <a:r>
              <a:t>LLM &amp; SLM Training Expertise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6144768"/>
            <a:ext cx="182880" cy="18288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6126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D3D5C"/>
                </a:solidFill>
                <a:latin typeface="Calibri"/>
              </a:defRPr>
            </a:pPr>
            <a:r>
              <a:t>3 AI Products in Market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6144768"/>
            <a:ext cx="182880" cy="18288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6126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D3D5C"/>
                </a:solidFill>
                <a:latin typeface="Calibri"/>
              </a:defRPr>
            </a:pPr>
            <a:r>
              <a:t>15+ Proven Team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0" y="6144768"/>
            <a:ext cx="182880" cy="18288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9800" y="61264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D3D5C"/>
                </a:solidFill>
                <a:latin typeface="Calibri"/>
              </a:defRPr>
            </a:pPr>
            <a:r>
              <a:t>Enterprise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0F0E8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About Liberin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1A1A2E"/>
                </a:solidFill>
                <a:latin typeface="Calibri"/>
              </a:defRPr>
            </a:pPr>
            <a:r>
              <a:t>Liberin Technologies is a Software Development &amp; AI Services company founded in 2016, specializing in Cloud, GenAI, MLOps, Product Engineering, and Enterprise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6B6B85"/>
                </a:solidFill>
                <a:latin typeface="Calibri"/>
              </a:defRPr>
            </a:pPr>
            <a:r>
              <a:t>We design, build &amp; manage cutting-edge solutions for SMEs and enterprises with expert problem solvers. Our strong R&amp;D focus explores frontier areas of AI/ML, IoT, and Blockchain.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377440" cy="155448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6002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Founded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2024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D7C6E"/>
                </a:solidFill>
                <a:latin typeface="Georgia"/>
              </a:defRPr>
            </a:pPr>
            <a:r>
              <a:t>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8+ years in business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377440" cy="155448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8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16002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Team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192024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89C12"/>
                </a:solidFill>
                <a:latin typeface="Georgia"/>
              </a:defRPr>
            </a:pPr>
            <a:r>
              <a:t>15+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Engineers, Researchers, Leaders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2377440" cy="155448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6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4290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Global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749039"/>
            <a:ext cx="168788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06C55"/>
                </a:solidFill>
                <a:latin typeface="Georgia"/>
              </a:defRPr>
            </a:pPr>
            <a:r>
              <a:rPr dirty="0"/>
              <a:t>US, AU,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7622" y="4297680"/>
            <a:ext cx="127201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rPr dirty="0"/>
              <a:t>Clients across 3 continents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291840"/>
            <a:ext cx="2377440" cy="155448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7C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60" y="342900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749039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7C6DB0"/>
                </a:solidFill>
                <a:latin typeface="Georgia"/>
              </a:defRPr>
            </a:pPr>
            <a:r>
              <a:t>AI/ML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LLM Training, GenAI, MLOps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TRUSTED BY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Pitney Bowes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031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Indus Towers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OYO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Digital India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AICTE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895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LTI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Zenatix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5806440"/>
            <a:ext cx="1188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0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0" y="58521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1A1A2E"/>
                </a:solidFill>
                <a:latin typeface="Calibri"/>
              </a:defRPr>
            </a:pPr>
            <a:r>
              <a:t>SmartBox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1A1A2E"/>
                </a:solidFill>
                <a:latin typeface="Georgia"/>
              </a:defRPr>
            </a:pPr>
            <a:r>
              <a:t>A Massive &amp; Growing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D7C6E"/>
                </a:solidFill>
                <a:latin typeface="Georgia"/>
              </a:defRPr>
            </a:pPr>
            <a:r>
              <a:t>LLM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371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1A2E"/>
                </a:solidFill>
                <a:latin typeface="Georgia"/>
              </a:defRPr>
            </a:pPr>
            <a:r>
              <a:t>$6.5B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603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D7C6E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D7C6E"/>
                </a:solidFill>
                <a:latin typeface="Georgia"/>
              </a:defRPr>
            </a:pPr>
            <a:r>
              <a:rPr dirty="0"/>
              <a:t>$36.1B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611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51960"/>
            <a:ext cx="1645920" cy="457200"/>
          </a:xfrm>
          <a:prstGeom prst="roundRect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8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0D7C6E"/>
                </a:solidFill>
                <a:latin typeface="Calibri"/>
              </a:defRPr>
            </a:pPr>
            <a:r>
              <a:t>33.2% CAGR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164592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1645920"/>
            <a:ext cx="3383280" cy="54864"/>
          </a:xfrm>
          <a:prstGeom prst="rect">
            <a:avLst/>
          </a:prstGeom>
          <a:solidFill>
            <a:srgbClr val="E8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79" y="187451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89C12"/>
                </a:solidFill>
                <a:latin typeface="Georgia"/>
              </a:defRPr>
            </a:pPr>
            <a:r>
              <a:t>SLM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42316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1A2E"/>
                </a:solidFill>
                <a:latin typeface="Georgia"/>
              </a:defRPr>
            </a:pPr>
            <a:r>
              <a:rPr dirty="0"/>
              <a:t>$5.3B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603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89C12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47472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E89C12"/>
                </a:solidFill>
                <a:latin typeface="Georgia"/>
              </a:defRPr>
            </a:pPr>
            <a:r>
              <a:rPr dirty="0"/>
              <a:t>$37.8B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611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2032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79" y="4251960"/>
            <a:ext cx="1645920" cy="457200"/>
          </a:xfrm>
          <a:prstGeom prst="roundRect">
            <a:avLst/>
          </a:prstGeom>
          <a:solidFill>
            <a:srgbClr val="FDF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599" y="429768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E89C12"/>
                </a:solidFill>
                <a:latin typeface="Calibri"/>
              </a:defRPr>
            </a:pPr>
            <a:r>
              <a:t>22.4% CAGR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64592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645920"/>
            <a:ext cx="3383280" cy="54864"/>
          </a:xfrm>
          <a:prstGeom prst="rect">
            <a:avLst/>
          </a:prstGeom>
          <a:solidFill>
            <a:srgbClr val="E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187451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06C55"/>
                </a:solidFill>
                <a:latin typeface="Georgia"/>
              </a:defRPr>
            </a:pPr>
            <a:r>
              <a:t>Conv. AI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23160"/>
            <a:ext cx="1554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1A2E"/>
                </a:solidFill>
                <a:latin typeface="Georgia"/>
              </a:defRPr>
            </a:pPr>
            <a:r>
              <a:rPr dirty="0"/>
              <a:t>$11.6B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256032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0175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E06C55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474720"/>
            <a:ext cx="1600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E06C55"/>
                </a:solidFill>
                <a:latin typeface="Georgia"/>
              </a:defRPr>
            </a:pPr>
            <a:r>
              <a:rPr dirty="0"/>
              <a:t>$41.4B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6118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4251960"/>
            <a:ext cx="1645920" cy="457200"/>
          </a:xfrm>
          <a:prstGeom prst="roundRect">
            <a:avLst/>
          </a:prstGeom>
          <a:solidFill>
            <a:srgbClr val="F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49640" y="429768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E06C55"/>
                </a:solidFill>
                <a:latin typeface="Calibri"/>
              </a:defRPr>
            </a:pPr>
            <a:r>
              <a:t>23.7% CAGR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486400"/>
            <a:ext cx="12191695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3D3D5C"/>
                </a:solidFill>
                <a:latin typeface="Calibri"/>
              </a:defRPr>
            </a:pPr>
            <a:r>
              <a:t>Asia Pacific is the fastest-growing region  |  2026 is the "Year of SLMs" (GlobalData)  |  AI Agents market: 43.3% CAGR to $48.3B by 2030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E9EAE"/>
                </a:solidFill>
                <a:latin typeface="Calibri"/>
              </a:defRPr>
            </a:pPr>
            <a:r>
              <a:t>Sources: Grand View Research, MarketsandMarkets, Mordor Intelligence, Data Bridge Market Research, BCC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0F0E8"/>
                </a:solidFill>
                <a:latin typeface="Calibri"/>
              </a:defRPr>
            </a:pPr>
            <a:r>
              <a:t>MARKET TAILWINDS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Why Now? The Perfect Storm for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Enterprise AI Adoption Surge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62% of enterprises experimenting with AI agents. LLMs moving from experimentation to production across BFSI, Healthcare, Retail.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80559" y="1645920"/>
            <a:ext cx="457200" cy="457200"/>
          </a:xfrm>
          <a:prstGeom prst="ellipse">
            <a:avLst/>
          </a:prstGeom>
          <a:solidFill>
            <a:srgbClr val="E8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691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19" y="1691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SLM Revolution in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2402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Small Language Models gaining massive traction — lower cost, on-device deployment, data privacy compliance. Enterprises prefer domain-specific SLMs.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599" y="1645920"/>
            <a:ext cx="457200" cy="457200"/>
          </a:xfrm>
          <a:prstGeom prst="ellipse">
            <a:avLst/>
          </a:prstGeom>
          <a:solidFill>
            <a:srgbClr val="E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9" y="169164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691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India AI Infrastructure Boom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4028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India committed $200B+ in AI investments. 58,000+ GPUs deployed. Yotta building $2B AI hub with Nvidia chips.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7C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51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Multilingual AI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80060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Indian language AI models in high demand. Sarvam, government initiatives driving local LLM ecosystem. Huge gap in multilingual training capability.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80559" y="420624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4251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19" y="4251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Agentic AI Wave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480060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AI Agents market growing from $8B (2025) to $48.3B (2030) at 43.3% CAGR. Voice + chat agents transforming customer service.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229599" y="4206240"/>
            <a:ext cx="457200" cy="457200"/>
          </a:xfrm>
          <a:prstGeom prst="ellipse">
            <a:avLst/>
          </a:prstGeom>
          <a:solidFill>
            <a:srgbClr val="E8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9" y="42519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425196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Regulatory Push for On-Premise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00600"/>
            <a:ext cx="30175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Data sovereignty laws driving demand for self-hosted SLMs. Organizations cannot send sensitive data to cloud LLMs — need local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PRODUCT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548640"/>
            <a:ext cx="9928129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1A1A2E"/>
                </a:solidFill>
                <a:latin typeface="Georgia"/>
              </a:defRPr>
            </a:pPr>
            <a:r>
              <a:rPr dirty="0"/>
              <a:t>Three AI-Powered Products in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66160" cy="73152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D7C6E"/>
                </a:solidFill>
                <a:latin typeface="Georgia"/>
              </a:defRPr>
            </a:pPr>
            <a:r>
              <a:t>Boliye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Conversational AI Voice &amp; Chat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▸  Multilingual voice &amp; chat AI agents for customer support and sales</a:t>
            </a:r>
            <a:br/>
            <a:r>
              <a:t>▸  Real-time responses with WhatsApp &amp; web integration</a:t>
            </a:r>
            <a:br/>
            <a:r>
              <a:t>▸  Seamless CRM/ERP/ticketing platform integration</a:t>
            </a:r>
            <a:br/>
            <a:r>
              <a:t>▸  Secure handling of sensitive data with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03520"/>
            <a:ext cx="1371600" cy="365760"/>
          </a:xfrm>
          <a:prstGeom prst="roundRect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7C6E"/>
                </a:solidFill>
                <a:latin typeface="Calibri"/>
              </a:defRPr>
            </a:pPr>
            <a:r>
              <a:t>boliye.ai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79" y="1463040"/>
            <a:ext cx="3566160" cy="73152"/>
          </a:xfrm>
          <a:prstGeom prst="rect">
            <a:avLst/>
          </a:prstGeom>
          <a:solidFill>
            <a:srgbClr val="E8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19" y="178308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E89C12"/>
                </a:solidFill>
                <a:latin typeface="Georgia"/>
              </a:defRPr>
            </a:pPr>
            <a:r>
              <a:t>Septa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2377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AI-Powered Analytics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292608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▸  Agentic AI that plans, coordinates, and executes autonomously</a:t>
            </a:r>
            <a:br/>
            <a:r>
              <a:t>▸  No-code data analysis empowering non-technical users</a:t>
            </a:r>
            <a:br/>
            <a:r>
              <a:t>▸  Conversational BI and AI-powered analytics</a:t>
            </a:r>
            <a:br/>
            <a:r>
              <a:t>▸  Transforms intelligence into action across sales, operations, and more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19" y="5303520"/>
            <a:ext cx="1371600" cy="365760"/>
          </a:xfrm>
          <a:prstGeom prst="roundRect">
            <a:avLst/>
          </a:prstGeom>
          <a:solidFill>
            <a:srgbClr val="FDF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53492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89C12"/>
                </a:solidFill>
                <a:latin typeface="Calibri"/>
              </a:defRPr>
            </a:pPr>
            <a:r>
              <a:t>septa.live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46304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19" y="1463040"/>
            <a:ext cx="3566160" cy="73152"/>
          </a:xfrm>
          <a:prstGeom prst="rect">
            <a:avLst/>
          </a:prstGeom>
          <a:solidFill>
            <a:srgbClr val="E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9" y="178308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E06C55"/>
                </a:solidFill>
                <a:latin typeface="Georgia"/>
              </a:defRPr>
            </a:pPr>
            <a:r>
              <a:t>PiiVacy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37744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AI-Driven Data Privacy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926080"/>
            <a:ext cx="292608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▸  Detects and protects sensitive PII using AI</a:t>
            </a:r>
            <a:br/>
            <a:r>
              <a:t>▸  Automated compliance with GDPR, data sovereignty laws</a:t>
            </a:r>
            <a:br/>
            <a:r>
              <a:t>▸  Ideal for Banking, Financial Services, Healthcare</a:t>
            </a:r>
            <a:br/>
            <a:r>
              <a:t>▸  Privacy Impact Assessment for LLM-based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59" y="5303520"/>
            <a:ext cx="1371600" cy="365760"/>
          </a:xfrm>
          <a:prstGeom prst="roundRect">
            <a:avLst/>
          </a:prstGeom>
          <a:solidFill>
            <a:srgbClr val="F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534924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06C55"/>
                </a:solidFill>
                <a:latin typeface="Calibri"/>
              </a:defRPr>
            </a:pPr>
            <a:r>
              <a:t>piivacy.ai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0F0E8"/>
                </a:solidFill>
                <a:latin typeface="Calibri"/>
              </a:defRPr>
            </a:pPr>
            <a:r>
              <a:t>CORE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End-to-End LLM &amp; SLM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Web, docs, books</a:t>
            </a:r>
            <a:br/>
            <a:r>
              <a:t>Multilingual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33172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D7C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6596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6888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Toxicity, dedup</a:t>
            </a:r>
            <a:br/>
            <a:r>
              <a:t>Quality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33172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D7C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16052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052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Tokenization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BPE, SentencePiece</a:t>
            </a:r>
            <a:br/>
            <a:r>
              <a:t>Custom tokenizers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33172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D7C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4924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85216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Pre-Training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DDP/FSDP/ZeRO</a:t>
            </a:r>
            <a:br/>
            <a:r>
              <a:t>Transformer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33172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D7C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4088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54380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4380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Alignment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SFT, RLHF</a:t>
            </a:r>
            <a:br/>
            <a:r>
              <a:t>Constitutional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33172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D7C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73252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23544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3544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Evaluation</a:t>
            </a:r>
            <a:br/>
            <a:r>
              <a:t>&amp; Safety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Benchmarks</a:t>
            </a:r>
            <a:br/>
            <a:r>
              <a:t>Red teaming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13848" y="2331720"/>
            <a:ext cx="228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D7C6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24160" y="1554480"/>
            <a:ext cx="14630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424160" y="1554480"/>
            <a:ext cx="146304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927080" y="1737360"/>
            <a:ext cx="457200" cy="45720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927080" y="178308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2331720"/>
            <a:ext cx="1280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2834639"/>
            <a:ext cx="12801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Serving infra</a:t>
            </a:r>
            <a:br/>
            <a:r>
              <a:t>Scaling &amp; monitoring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4114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4572000"/>
            <a:ext cx="2651760" cy="182880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724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Proven Track Record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12064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Actively training LLM/SLM models for enterprise clients — not just theory, production-grade delivery.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29000" y="4572000"/>
            <a:ext cx="2651760" cy="182880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8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89C12"/>
                </a:solidFill>
                <a:latin typeface="Calibri"/>
              </a:defRPr>
            </a:pPr>
            <a:r>
              <a:t>Multilingual Expertise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0" y="512064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Deep experience with Indian language models and multilingual data processing pipelines.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59" y="4572000"/>
            <a:ext cx="2651760" cy="182880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6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37959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06C55"/>
                </a:solidFill>
                <a:latin typeface="Calibri"/>
              </a:defRPr>
            </a:pPr>
            <a:r>
              <a:t>Full-Stack Capability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59" y="512064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From raw data to deployed model — end-to-end without third-party dependencies.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89719" y="4572000"/>
            <a:ext cx="2651760" cy="182880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7C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18319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7C6DB0"/>
                </a:solidFill>
                <a:latin typeface="Calibri"/>
              </a:defRPr>
            </a:pPr>
            <a:r>
              <a:t>Cost Efficiency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18319" y="5120640"/>
            <a:ext cx="2286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Optimized training pipelines achieving 35-40% GPU utilization on A100/H100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rPr dirty="0"/>
              <a:t>World-Class AI Research &amp; Engineering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 Govind Raj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7C6E"/>
                </a:solidFill>
                <a:latin typeface="Calibri"/>
              </a:defRPr>
            </a:pPr>
            <a:r>
              <a:t>Co-Founder &amp; 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MS &amp; PhD (ongoing), IIT Delhi</a:t>
            </a:r>
            <a:br/>
            <a:r>
              <a:t>Ex-CDAC | 20 years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37560" y="1600200"/>
            <a:ext cx="731520" cy="731520"/>
          </a:xfrm>
          <a:prstGeom prst="ellipse">
            <a:avLst/>
          </a:prstGeom>
          <a:solidFill>
            <a:srgbClr val="E8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4688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Chinmay Garg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889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89C12"/>
                </a:solidFill>
                <a:latin typeface="Calibri"/>
              </a:defRPr>
            </a:pPr>
            <a:r>
              <a:t>Co-Founder &amp; 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1546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B.Tech, MBA</a:t>
            </a:r>
            <a:br/>
            <a:r>
              <a:t>Ex-CDAC | 20 years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23560" y="1600200"/>
            <a:ext cx="731520" cy="731520"/>
          </a:xfrm>
          <a:prstGeom prst="ellipse">
            <a:avLst/>
          </a:prstGeom>
          <a:solidFill>
            <a:srgbClr val="E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16916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4688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Dr. Soman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7889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06C55"/>
                </a:solidFill>
                <a:latin typeface="Calibri"/>
              </a:defRPr>
            </a:pPr>
            <a:r>
              <a:t>Research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1546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PhD (IIT Delhi) — AI/ML</a:t>
            </a:r>
            <a:br/>
            <a:r>
              <a:t>Ex-CDAC | 16 years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37160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909560" y="1600200"/>
            <a:ext cx="731520" cy="731520"/>
          </a:xfrm>
          <a:prstGeom prst="ellipse">
            <a:avLst/>
          </a:prstGeom>
          <a:solidFill>
            <a:srgbClr val="7C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16916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4688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Shubham Jindal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7889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7C6DB0"/>
                </a:solidFill>
                <a:latin typeface="Calibri"/>
              </a:defRPr>
            </a:pPr>
            <a:r>
              <a:t>Multimodal Researcher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546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MS (AI/ML), Univ. of Georgia, USA</a:t>
            </a:r>
            <a:br/>
            <a:r>
              <a:t>15 years experience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371600"/>
            <a:ext cx="20116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95560" y="1600200"/>
            <a:ext cx="731520" cy="7315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95560" y="169164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4688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Shikhar Gupta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7889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D7C6E"/>
                </a:solidFill>
                <a:latin typeface="Calibri"/>
              </a:defRPr>
            </a:pPr>
            <a:r>
              <a:t>MLOps/Infra 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15468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B6B85"/>
                </a:solidFill>
                <a:latin typeface="Calibri"/>
              </a:defRPr>
            </a:pPr>
            <a:r>
              <a:t>MS (AI/ML), NCI Ireland</a:t>
            </a:r>
            <a:br/>
            <a:r>
              <a:t>Ex-CDAC | 10 years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TEAM COMPOSITION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74920"/>
            <a:ext cx="2011680" cy="118872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2120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D7C6E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D3D5C"/>
                </a:solidFill>
                <a:latin typeface="Calibri"/>
              </a:defRPr>
            </a:pPr>
            <a:r>
              <a:t>Research-Focused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5074920"/>
            <a:ext cx="2011680" cy="118872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8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52120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E89C12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D3D5C"/>
                </a:solidFill>
                <a:latin typeface="Calibri"/>
              </a:defRPr>
            </a:pPr>
            <a:r>
              <a:t>Engineering-Focused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5074920"/>
            <a:ext cx="2011680" cy="118872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6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0" y="52120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E06C55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D3D5C"/>
                </a:solidFill>
                <a:latin typeface="Calibri"/>
              </a:defRPr>
            </a:pPr>
            <a:r>
              <a:t>Safety / Red Team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5074920"/>
            <a:ext cx="2011680" cy="118872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7C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0" y="52120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7C6DB0"/>
                </a:solidFill>
                <a:latin typeface="Georgia"/>
              </a:defRPr>
            </a:pPr>
            <a:r>
              <a:t>5+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D3D5C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75520" y="5074920"/>
            <a:ext cx="2011680" cy="118872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0" y="52120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0D7C6E"/>
                </a:solidFill>
                <a:latin typeface="Georgia"/>
              </a:defRPr>
            </a:pPr>
            <a:r>
              <a:t>15+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576072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3D3D5C"/>
                </a:solidFill>
                <a:latin typeface="Calibri"/>
              </a:defRPr>
            </a:pPr>
            <a:r>
              <a:t>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0F0E8"/>
                </a:solidFill>
                <a:latin typeface="Calibri"/>
              </a:defRPr>
            </a:pPr>
            <a:r>
              <a:t>TRAINING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Compute &amp; Cost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Training Compute Formula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65960"/>
            <a:ext cx="4389120" cy="502920"/>
          </a:xfrm>
          <a:prstGeom prst="roundRect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4297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D7C6E"/>
                </a:solidFill>
                <a:latin typeface="Consolas"/>
              </a:defRPr>
            </a:pPr>
            <a:r>
              <a:t>FLOPS = 6 × N ×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6B85"/>
                </a:solidFill>
                <a:latin typeface="Calibri"/>
              </a:defRPr>
            </a:pPr>
            <a:r>
              <a:t>N = Number of Parameters  |  D = Number of Training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4389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Example: 7B params × 1T tokens = ~42 ZettaFLOPs</a:t>
            </a:r>
            <a:br/>
            <a:r>
              <a:t>NVIDIA A100 80GB @ ~110 TFLOPs sustained (35-40% utilization)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GPU Scaling (7B Model)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011680"/>
            <a:ext cx="4389120" cy="365760"/>
          </a:xfrm>
          <a:prstGeom prst="roundRect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0" y="2057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128 GPUs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574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~34 Days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468880"/>
            <a:ext cx="4389120" cy="365760"/>
          </a:xfrm>
          <a:prstGeom prst="round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2514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256 GPUs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514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~17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926080"/>
            <a:ext cx="4389120" cy="365760"/>
          </a:xfrm>
          <a:prstGeom prst="roundRect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512 GPUs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971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~8.5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9319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Cost Estimates (Cloud — A100 @ $2.5/hr)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D3D5C"/>
                </a:solidFill>
                <a:latin typeface="Calibri"/>
              </a:defRPr>
            </a:pPr>
            <a:r>
              <a:t>7B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4348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$300K – $500K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920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D3D5C"/>
                </a:solidFill>
                <a:latin typeface="Calibri"/>
              </a:defRPr>
            </a:pPr>
            <a:r>
              <a:t>70B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920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~10× cost of 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492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D3D5C"/>
                </a:solidFill>
                <a:latin typeface="Calibri"/>
              </a:defRPr>
            </a:pPr>
            <a:r>
              <a:t>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34924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Linearly with params × tokens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760720"/>
            <a:ext cx="4389120" cy="411480"/>
          </a:xfrm>
          <a:prstGeom prst="roundRect">
            <a:avLst/>
          </a:prstGeom>
          <a:solidFill>
            <a:srgbClr val="F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806440"/>
            <a:ext cx="4206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E06C55"/>
                </a:solidFill>
                <a:latin typeface="Calibri"/>
              </a:defRPr>
            </a:pPr>
            <a:r>
              <a:t>Real costs 1.5–2× higher due to inefficiencies, failed runs &amp; overhead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840480"/>
            <a:ext cx="5029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Industry Benchmarks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343400"/>
            <a:ext cx="4389120" cy="320040"/>
          </a:xfrm>
          <a:prstGeom prst="round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4370832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3708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GPUs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370832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B6B85"/>
                </a:solidFill>
                <a:latin typeface="Calibri"/>
              </a:defRPr>
            </a:pPr>
            <a:r>
              <a:t>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75488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GPT-3 (175B)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7548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10K V100s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7548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~30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138928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LLaMA (65B)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13892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2,048 A100s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5138928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~21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522976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LLaMA 2 (70B)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552297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2,000 A100s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522976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~25 days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5907024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LLaMA 3.2 (90B)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90702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907024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1.77M H100-hrs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44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A1A2E"/>
                </a:solidFill>
                <a:latin typeface="Georgia"/>
              </a:defRPr>
            </a:pPr>
            <a:r>
              <a:rPr dirty="0"/>
              <a:t>We're Not Just Talking — We're Delivering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55448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D7C6E"/>
                </a:solidFill>
                <a:latin typeface="Georgia"/>
              </a:defRPr>
            </a:pPr>
            <a:r>
              <a:t>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Years in Business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63040"/>
            <a:ext cx="2468880" cy="155448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66160" y="1463040"/>
            <a:ext cx="2468880" cy="54864"/>
          </a:xfrm>
          <a:prstGeom prst="rect">
            <a:avLst/>
          </a:prstGeom>
          <a:solidFill>
            <a:srgbClr val="E8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7373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9C12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468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AI Products Live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63040"/>
            <a:ext cx="2468880" cy="155448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468880" cy="54864"/>
          </a:xfrm>
          <a:prstGeom prst="rect">
            <a:avLst/>
          </a:prstGeom>
          <a:solidFill>
            <a:srgbClr val="E06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17373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06C55"/>
                </a:solidFill>
                <a:latin typeface="Georgia"/>
              </a:defRPr>
            </a:pPr>
            <a:r>
              <a:t>15+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68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Enterprise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63040"/>
            <a:ext cx="2468880" cy="155448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35440" y="1463040"/>
            <a:ext cx="2468880" cy="54864"/>
          </a:xfrm>
          <a:prstGeom prst="rect">
            <a:avLst/>
          </a:prstGeom>
          <a:solidFill>
            <a:srgbClr val="7C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173736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7C6DB0"/>
                </a:solidFill>
                <a:latin typeface="Georgia"/>
              </a:defRPr>
            </a:pPr>
            <a: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46888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B6B85"/>
                </a:solidFill>
                <a:latin typeface="Calibri"/>
              </a:defRPr>
            </a:pPr>
            <a:r>
              <a:t>Yrs Founder Exp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49039"/>
            <a:ext cx="5303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3913631"/>
            <a:ext cx="274320" cy="2743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904487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858768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Active LLM/SLM training engagement with enterprise customer — production-grade models deployed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5303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537960" y="3913631"/>
            <a:ext cx="274320" cy="2743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904487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858768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Boliye: Live AI voice &amp; chat agents processing real customer interactions in multiple languages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26279"/>
            <a:ext cx="5303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4690871"/>
            <a:ext cx="274320" cy="2743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681727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636007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Septa: Agentic AI platform helping enterprises transform raw data into autonomous business actions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526279"/>
            <a:ext cx="5303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537960" y="4690871"/>
            <a:ext cx="274320" cy="2743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681727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636007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PiiVacy: AI-powered PII detection trusted by financial sector for regulatory compliance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5303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68680" y="5468112"/>
            <a:ext cx="274320" cy="2743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45896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413248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Team with ex-CDAC, IIT Delhi pedigree — deep expertise in Indian language AI and model training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303520"/>
            <a:ext cx="5303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537960" y="5468112"/>
            <a:ext cx="274320" cy="274320"/>
          </a:xfrm>
          <a:prstGeom prst="ellipse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5458968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413248"/>
            <a:ext cx="4663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D3D5C"/>
                </a:solidFill>
                <a:latin typeface="Calibri"/>
              </a:defRPr>
            </a:pPr>
            <a:r>
              <a:t>Thought leadership: Published research on MCP + Agentic AI, Privacy Impact Assessments for LLMs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0F0E8"/>
                </a:solidFill>
                <a:latin typeface="Calibri"/>
              </a:defRPr>
            </a:pPr>
            <a:r>
              <a:t>MARKET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Explosive Growth Ahead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6304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0" y="146304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Liberin is positioned at the intersection of three high-growth markets — LLM, SLM, and Conversational AI — with proven products in each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E9EAE"/>
                </a:solidFill>
                <a:latin typeface="Calibri"/>
              </a:defRPr>
            </a:pPr>
            <a:r>
              <a:t>Sources: Grand View Research, Mordor Intelligence, Data Bridge Market Research, MarketsandMarkets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D7C6E"/>
                </a:solidFill>
                <a:latin typeface="Calibri"/>
              </a:defRPr>
            </a:pPr>
            <a:r>
              <a:t>INDIA AI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1A1A2E"/>
                </a:solidFill>
                <a:latin typeface="Georgia"/>
              </a:defRPr>
            </a:pPr>
            <a:r>
              <a:t>The India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51760" cy="192024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3736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0D7C6E"/>
                </a:solidFill>
                <a:latin typeface="Georgia"/>
              </a:defRPr>
            </a:pPr>
            <a:r>
              <a:t>$200B+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D3D5C"/>
                </a:solidFill>
                <a:latin typeface="Calibri"/>
              </a:defRPr>
            </a:pPr>
            <a:r>
              <a:t>AI Investment Commitments</a:t>
            </a:r>
            <a:br/>
            <a:r>
              <a:t>by 2028 (Govt. target)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51760" cy="192024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8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03320" y="173736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E89C12"/>
                </a:solidFill>
                <a:latin typeface="Georgia"/>
              </a:defRPr>
            </a:pPr>
            <a:r>
              <a:t>58,000+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4688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D3D5C"/>
                </a:solidFill>
                <a:latin typeface="Calibri"/>
              </a:defRPr>
            </a:pPr>
            <a:r>
              <a:t>GPUs Deployed</a:t>
            </a:r>
            <a:br/>
            <a:r>
              <a:t>under IndiaAI 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63040"/>
            <a:ext cx="2651760" cy="192024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6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73736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E06C55"/>
                </a:solidFill>
                <a:latin typeface="Georgia"/>
              </a:defRPr>
            </a:pPr>
            <a:r>
              <a:t>$277B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4688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D3D5C"/>
                </a:solidFill>
                <a:latin typeface="Calibri"/>
              </a:defRPr>
            </a:pPr>
            <a:r>
              <a:t>Private Sector AI Infra</a:t>
            </a:r>
            <a:br/>
            <a:r>
              <a:t>Pledged (5-7 years)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463040"/>
            <a:ext cx="2651760" cy="192024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7C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64040" y="1737360"/>
            <a:ext cx="2103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7C6DB0"/>
                </a:solidFill>
                <a:latin typeface="Georgia"/>
              </a:defRPr>
            </a:pPr>
            <a:r>
              <a:t>$2B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468880"/>
            <a:ext cx="2103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D3D5C"/>
                </a:solidFill>
                <a:latin typeface="Calibri"/>
              </a:defRPr>
            </a:pPr>
            <a:r>
              <a:t>Yotta AI Hub</a:t>
            </a:r>
            <a:br/>
            <a:r>
              <a:t>with Nvidia GPUs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749039"/>
            <a:ext cx="12191695" cy="54864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7C6E"/>
                </a:solidFill>
                <a:latin typeface="Calibri"/>
              </a:defRPr>
            </a:pPr>
            <a:r>
              <a:t>WHY THIS MATTERS FOR LIBERIN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2651760" cy="192024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7C6E"/>
                </a:solidFill>
                <a:latin typeface="Calibri"/>
              </a:defRPr>
            </a:pPr>
            <a:r>
              <a:t>Massive GPU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79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IndiaAI Mission provides subsidized compute access. More affordable training for Indian AI companies.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434840"/>
            <a:ext cx="2651760" cy="192024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8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4617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89C12"/>
                </a:solidFill>
                <a:latin typeface="Calibri"/>
              </a:defRPr>
            </a:pPr>
            <a:r>
              <a:t>Demand for Local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983479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Enterprises need India-trained, multilingual, on-premise LLMs. Limited supply of capable Indian training teams.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434840"/>
            <a:ext cx="2651760" cy="192024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6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617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06C55"/>
                </a:solidFill>
                <a:latin typeface="Calibri"/>
              </a:defRPr>
            </a:pPr>
            <a:r>
              <a:t>Government Backing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83479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Digital India, AICTE partnerships already in place. Strong alignment with national AI strategy.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434840"/>
            <a:ext cx="2651760" cy="192024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7C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599" y="46177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7C6DB0"/>
                </a:solidFill>
                <a:latin typeface="Calibri"/>
              </a:defRPr>
            </a:pPr>
            <a:r>
              <a:t>Cost Advantage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4983479"/>
            <a:ext cx="2286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Indian engineering talent at 1/3rd global cost. Competitive training costs vs. US/EU counterparts.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0F0E8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Strategic Investment Allocation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137160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0D7C6E"/>
                </a:solidFill>
                <a:latin typeface="Calibri"/>
              </a:defRPr>
            </a:pPr>
            <a:r>
              <a:t>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0D7C6E"/>
                </a:solidFill>
                <a:latin typeface="Georgia"/>
              </a:defRPr>
            </a:pPr>
            <a:r>
              <a:t>$5M+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0" y="1188720"/>
          <a:ext cx="3657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200400"/>
            <a:ext cx="5303520" cy="1371600"/>
          </a:xfrm>
          <a:prstGeom prst="roundRect">
            <a:avLst/>
          </a:prstGeom>
          <a:solidFill>
            <a:srgbClr val="D0F0E8"/>
          </a:solidFill>
          <a:ln w="12700">
            <a:solidFill>
              <a:srgbClr val="0D7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D7C6E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37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GPU Infrastructure &amp;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0332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GPU cluster procurement/lease (A100/H100), cloud compute credits, storage infrastructure, networking equipment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5303520" cy="1371600"/>
          </a:xfrm>
          <a:prstGeom prst="roundRect">
            <a:avLst/>
          </a:prstGeom>
          <a:solidFill>
            <a:srgbClr val="FDF2D0"/>
          </a:solidFill>
          <a:ln w="12700">
            <a:solidFill>
              <a:srgbClr val="E8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3375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9C12"/>
                </a:solidFill>
                <a:latin typeface="Georgia"/>
              </a:defRPr>
            </a:pPr>
            <a: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337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Team Expansion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70332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Hire 10+ ML researchers, training engineers, MLOps specialists. Competitive salaries to attract top AI talent.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371600"/>
          </a:xfrm>
          <a:prstGeom prst="roundRect">
            <a:avLst/>
          </a:prstGeom>
          <a:solidFill>
            <a:srgbClr val="FDE8E3"/>
          </a:solidFill>
          <a:ln w="12700">
            <a:solidFill>
              <a:srgbClr val="E06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06C55"/>
                </a:solidFill>
                <a:latin typeface="Georgia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R&amp;D &amp;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34924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Enhance Boliye, Septa, PiiVacy. Build new model architectures. Research on Indian language LLMs.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303520" cy="1371600"/>
          </a:xfrm>
          <a:prstGeom prst="roundRect">
            <a:avLst/>
          </a:prstGeom>
          <a:solidFill>
            <a:srgbClr val="EDEAF5"/>
          </a:solidFill>
          <a:ln w="12700">
            <a:solidFill>
              <a:srgbClr val="7C6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98348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7C6DB0"/>
                </a:solidFill>
                <a:latin typeface="Georgia"/>
              </a:defRPr>
            </a:pPr>
            <a:r>
              <a:t>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834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Sales &amp;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349240"/>
            <a:ext cx="4114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D3D5C"/>
                </a:solidFill>
                <a:latin typeface="Calibri"/>
              </a:defRPr>
            </a:pPr>
            <a:r>
              <a:t>Enterprise sales team, marketing, partner development. Expand US/AU client 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D0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3657600"/>
            <a:ext cx="4114800" cy="4114800"/>
          </a:xfrm>
          <a:prstGeom prst="ellipse">
            <a:avLst/>
          </a:prstGeom>
          <a:solidFill>
            <a:srgbClr val="FDF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7C6E"/>
                </a:solidFill>
                <a:latin typeface="Calibri"/>
              </a:defRPr>
            </a:pPr>
            <a:r>
              <a:t>LIBERIN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7315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1A1A2E"/>
                </a:solidFill>
                <a:latin typeface="Georgia"/>
              </a:defRPr>
            </a:pPr>
            <a:r>
              <a:t>Building India's</a:t>
            </a:r>
            <a:br/>
            <a:r>
              <a:t>AI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3D3D5C"/>
                </a:solidFill>
                <a:latin typeface="Calibri"/>
              </a:defRPr>
            </a:pPr>
            <a:r>
              <a:t>We have the team. We have the expertise. We have the products.</a:t>
            </a:r>
            <a:br/>
            <a:r>
              <a:t>Now we need the infrastructure to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D7C6E"/>
                </a:solidFill>
                <a:latin typeface="Georgia"/>
              </a:defRPr>
            </a:pPr>
            <a:r>
              <a:t>Let's Build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893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3D3D5C"/>
                </a:solidFill>
                <a:latin typeface="Calibri"/>
              </a:defRPr>
            </a:pPr>
            <a:r>
              <a:t>liberintechnologies.com  |  boliye.ai  |  septa.live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1473</Words>
  <Application>Microsoft Macintosh PowerPoint</Application>
  <PresentationFormat>Widescreen</PresentationFormat>
  <Paragraphs>269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2026-03-06T07:16:42Z</dcterms:modified>
  <cp:category/>
</cp:coreProperties>
</file>